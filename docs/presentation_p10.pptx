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Système de recommandation d'articles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ADD8E6"/>
                </a:solidFill>
              </a:rPr>
              <a:t>MVP – Architecture serverless sur 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5C1E9"/>
                </a:solidFill>
              </a:rPr>
              <a:t>Données : News Portal User Interactions – Globo.com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9436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7F8C8D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Sommaire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73152" cy="54864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Système de recommandation d'articles  |  MVP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0" y="660196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371600"/>
            <a:ext cx="5303520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46304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E86C1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55448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Contexte et objectif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560320"/>
            <a:ext cx="5303520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65176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E86C1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74320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Données utilisées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3749039"/>
            <a:ext cx="5303520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840479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E86C1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93192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Description fonctionnelle de l'application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4937760"/>
            <a:ext cx="5303520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02920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E86C1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512064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Architecture technique retenue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1371600"/>
            <a:ext cx="5303520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146304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E86C1"/>
                </a:solidFill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155448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Système de recommandation – 3 modèles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2560320"/>
            <a:ext cx="5303520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20840" y="265176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E86C1"/>
                </a:solidFill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274320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Comparaison et choix des modèles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0" y="3749039"/>
            <a:ext cx="5303520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20840" y="3840479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E86C1"/>
                </a:solidFill>
              </a:rP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393192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Architecture cible – Gestion du cold start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0" y="4937760"/>
            <a:ext cx="5303520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20840" y="502920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E86C1"/>
                </a:solidFill>
              </a:rPr>
              <a:t>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512064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Limites et perspectives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Contexte et objectif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DD8E6"/>
                </a:solidFill>
              </a:rPr>
              <a:t>Pourquoi ce projet 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97280"/>
            <a:ext cx="73152" cy="54864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Système de recommandation d'articles  |  MVP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0" y="660196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530352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3716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86C1"/>
                </a:solidFill>
              </a:rPr>
              <a:t>Contexte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78308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F3A5F"/>
                </a:solidFill>
              </a:defRPr>
            </a:pPr>
            <a:r>
              <a:t>  Tester une solution de recommandation d'articles pour des particuliers</a:t>
            </a:r>
          </a:p>
          <a:p>
            <a:pPr>
              <a:defRPr sz="1400">
                <a:solidFill>
                  <a:srgbClr val="1F3A5F"/>
                </a:solidFill>
              </a:defRPr>
            </a:pPr>
            <a:r>
              <a:t>  Pas encore de données utilisateurs propriétaires</a:t>
            </a:r>
          </a:p>
          <a:p>
            <a:pPr>
              <a:defRPr sz="1400">
                <a:solidFill>
                  <a:srgbClr val="1F3A5F"/>
                </a:solidFill>
              </a:defRPr>
            </a:pPr>
            <a:r>
              <a:t>  Utilisation d'un dataset public pour développer le MVP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280160"/>
            <a:ext cx="530352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3716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86C1"/>
                </a:solidFill>
              </a:rPr>
              <a:t>Fonctionnalité MVP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82880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3A5F"/>
                </a:solidFill>
              </a:rPr>
              <a:t>« En tant qu'utilisateur, je reçois une sélection de 5 articles recommandés 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1089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</a:rPr>
              <a:t>Enjeu architectural clé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47472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F3A5F"/>
                </a:solidFill>
              </a:defRPr>
            </a:pPr>
            <a:r>
              <a:t>  Prise en compte des nouveaux utilisateurs</a:t>
            </a:r>
          </a:p>
          <a:p>
            <a:pPr>
              <a:defRPr sz="1400">
                <a:solidFill>
                  <a:srgbClr val="1F3A5F"/>
                </a:solidFill>
              </a:defRPr>
            </a:pPr>
            <a:r>
              <a:t>  Prise en compte des nouveaux articles</a:t>
            </a:r>
          </a:p>
          <a:p>
            <a:pPr>
              <a:defRPr sz="1400">
                <a:solidFill>
                  <a:srgbClr val="1F3A5F"/>
                </a:solidFill>
              </a:defRPr>
            </a:pPr>
            <a:r>
              <a:t>  Architecture scalable et maintenable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Données utilisées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DD8E6"/>
                </a:solidFill>
              </a:rPr>
              <a:t>News Portal User Interactions – Globo.com (Kaggle, 2017)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97280"/>
            <a:ext cx="73152" cy="54864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Système de recommandation d'articles  |  MVP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0" y="660196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280160"/>
            <a:ext cx="3749039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35331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articles_metadata.csv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783080"/>
            <a:ext cx="3749039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920240"/>
            <a:ext cx="3383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3A5F"/>
                </a:solidFill>
              </a:defRPr>
            </a:pPr>
            <a:r>
              <a:t>  364 047 articles</a:t>
            </a:r>
          </a:p>
          <a:p>
            <a:pPr>
              <a:defRPr sz="1300">
                <a:solidFill>
                  <a:srgbClr val="1F3A5F"/>
                </a:solidFill>
              </a:defRPr>
            </a:pPr>
            <a:r>
              <a:t>  Colonnes : article_id, category_id, words_count</a:t>
            </a:r>
          </a:p>
          <a:p>
            <a:pPr>
              <a:defRPr sz="1300">
                <a:solidFill>
                  <a:srgbClr val="1F3A5F"/>
                </a:solidFill>
              </a:defRPr>
            </a:pPr>
            <a:r>
              <a:t>  Dataset anonymisé (pas de titres)</a:t>
            </a:r>
          </a:p>
          <a:p>
            <a:pPr>
              <a:defRPr sz="1300">
                <a:solidFill>
                  <a:srgbClr val="1F3A5F"/>
                </a:solidFill>
              </a:defRPr>
            </a:pPr>
            <a:r>
              <a:t>  461 catégories distinctes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280160"/>
            <a:ext cx="3749039" cy="502920"/>
          </a:xfrm>
          <a:prstGeom prst="rect">
            <a:avLst/>
          </a:prstGeom>
          <a:solidFill>
            <a:srgbClr val="1A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135331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clicks_sample.csv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1783080"/>
            <a:ext cx="3749039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1920240"/>
            <a:ext cx="3383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3A5F"/>
                </a:solidFill>
              </a:defRPr>
            </a:pPr>
            <a:r>
              <a:t>  1 883 interactions</a:t>
            </a:r>
          </a:p>
          <a:p>
            <a:pPr>
              <a:defRPr sz="1300">
                <a:solidFill>
                  <a:srgbClr val="1F3A5F"/>
                </a:solidFill>
              </a:defRPr>
            </a:pPr>
            <a:r>
              <a:t>  707 utilisateurs uniques</a:t>
            </a:r>
          </a:p>
          <a:p>
            <a:pPr>
              <a:defRPr sz="1300">
                <a:solidFill>
                  <a:srgbClr val="1F3A5F"/>
                </a:solidFill>
              </a:defRPr>
            </a:pPr>
            <a:r>
              <a:t>  323 articles uniques cliqués</a:t>
            </a:r>
          </a:p>
          <a:p>
            <a:pPr>
              <a:defRPr sz="1300">
                <a:solidFill>
                  <a:srgbClr val="1F3A5F"/>
                </a:solidFill>
              </a:defRPr>
            </a:pPr>
            <a:r>
              <a:t>  Colonnes : user_id, session, device, pays...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280160"/>
            <a:ext cx="3749039" cy="502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135331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articles_embeddings.pickle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1783080"/>
            <a:ext cx="3749039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1920240"/>
            <a:ext cx="3383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3A5F"/>
                </a:solidFill>
              </a:defRPr>
            </a:pPr>
            <a:r>
              <a:t>  Vecteurs de 250 dimensions par article</a:t>
            </a:r>
          </a:p>
          <a:p>
            <a:pPr>
              <a:defRPr sz="1300">
                <a:solidFill>
                  <a:srgbClr val="1F3A5F"/>
                </a:solidFill>
              </a:defRPr>
            </a:pPr>
            <a:r>
              <a:t>  Générés depuis le contenu textuel</a:t>
            </a:r>
          </a:p>
          <a:p>
            <a:pPr>
              <a:defRPr sz="1300">
                <a:solidFill>
                  <a:srgbClr val="1F3A5F"/>
                </a:solidFill>
              </a:defRPr>
            </a:pPr>
            <a:r>
              <a:t>  Fichier brut : 347 Mo</a:t>
            </a:r>
          </a:p>
          <a:p>
            <a:pPr>
              <a:defRPr sz="1300">
                <a:solidFill>
                  <a:srgbClr val="1F3A5F"/>
                </a:solidFill>
              </a:defRPr>
            </a:pPr>
            <a:r>
              <a:t>  Après PCA (64D) : 93 Mo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Description fonctionnelle de l'application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73152" cy="54864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Système de recommandation d'articles  |  MVP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0" y="660196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A5F"/>
                </a:solidFill>
              </a:rPr>
              <a:t>L'interface Streamlit permet à l'utilisateur de :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828800"/>
            <a:ext cx="54864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828800"/>
            <a:ext cx="548640" cy="18288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33172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011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3A5F"/>
                </a:solidFill>
              </a:rPr>
              <a:t>Sélectionner un utilisateur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5146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3A5F"/>
                </a:solidFill>
              </a:rPr>
              <a:t>Choisir parmi les utilisateurs connus via une liste déroulante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828800"/>
            <a:ext cx="54864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828800"/>
            <a:ext cx="548640" cy="18288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233172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2011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3A5F"/>
                </a:solidFill>
              </a:rPr>
              <a:t>Choisir un modèle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25146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3A5F"/>
                </a:solidFill>
              </a:rPr>
              <a:t>ALS, Embeddings PCA ou Similarité item-based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931920"/>
            <a:ext cx="54864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3931920"/>
            <a:ext cx="548640" cy="18288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443484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114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3A5F"/>
                </a:solidFill>
              </a:rPr>
              <a:t>Lancer la recommandation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46177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3A5F"/>
                </a:solidFill>
              </a:rPr>
              <a:t>Appel de la fonction AWS Lambda via boto3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931920"/>
            <a:ext cx="54864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3931920"/>
            <a:ext cx="548640" cy="18288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443484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4114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3A5F"/>
                </a:solidFill>
              </a:rPr>
              <a:t>Visualiser les résultats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46177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3A5F"/>
                </a:solidFill>
              </a:rPr>
              <a:t>5 articles avec catégorie, longueur et indicateur de cohérence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Architecture technique retenue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DD8E6"/>
                </a:solidFill>
              </a:rPr>
              <a:t>Serverless sur AWS – sans API Gateway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97280"/>
            <a:ext cx="73152" cy="54864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Système de recommandation d'articles  |  MVP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0" y="660196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926080"/>
            <a:ext cx="2011680" cy="10972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017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Utilisateur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74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Navigateur web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2926080"/>
            <a:ext cx="2286000" cy="10972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0" y="30175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Streamlit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3474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EC2 – port 8501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926080"/>
            <a:ext cx="2286000" cy="1097280"/>
          </a:xfrm>
          <a:prstGeom prst="rect">
            <a:avLst/>
          </a:prstGeom>
          <a:solidFill>
            <a:srgbClr val="1A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0175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AWS Lambda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474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p10-recommandation-handler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0" y="2926080"/>
            <a:ext cx="2377440" cy="10972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30175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AWS S3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34747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p10-recommandation-models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68880" y="3438144"/>
            <a:ext cx="731520" cy="7315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63240" y="329183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3A5F"/>
                </a:solidFill>
              </a:rPr>
              <a:t>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354787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3A5F"/>
                </a:solidFill>
              </a:rPr>
              <a:t>HTTP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0" y="3438144"/>
            <a:ext cx="731520" cy="7315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80760" y="329183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3A5F"/>
                </a:solidFill>
              </a:rPr>
              <a:t>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354787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3A5F"/>
                </a:solidFill>
              </a:rPr>
              <a:t>boto3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800" y="3438144"/>
            <a:ext cx="731520" cy="7315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81160" y="329183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3A5F"/>
                </a:solidFill>
              </a:rPr>
              <a:t>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354787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3A5F"/>
                </a:solidFill>
              </a:rPr>
              <a:t>S3 download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7548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3A5F"/>
                </a:solidFill>
              </a:rPr>
              <a:t>Artefacts stockés sur S3 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07492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3A5F"/>
                </a:solidFill>
              </a:defRPr>
            </a:pPr>
            <a:r>
              <a:t>  mappings.pkl</a:t>
            </a:r>
          </a:p>
          <a:p>
            <a:pPr>
              <a:defRPr sz="1200">
                <a:solidFill>
                  <a:srgbClr val="1F3A5F"/>
                </a:solidFill>
              </a:defRPr>
            </a:pPr>
            <a:r>
              <a:t>  als_model.pkl</a:t>
            </a:r>
          </a:p>
          <a:p>
            <a:pPr>
              <a:defRPr sz="1200">
                <a:solidFill>
                  <a:srgbClr val="1F3A5F"/>
                </a:solidFill>
              </a:defRPr>
            </a:pPr>
            <a:r>
              <a:t>  embeddings_pca.pkl</a:t>
            </a:r>
          </a:p>
          <a:p>
            <a:pPr>
              <a:defRPr sz="1200">
                <a:solidFill>
                  <a:srgbClr val="1F3A5F"/>
                </a:solidFill>
              </a:defRPr>
            </a:pPr>
            <a:r>
              <a:t>  item_similarity.pkl</a:t>
            </a:r>
          </a:p>
          <a:p>
            <a:pPr>
              <a:defRPr sz="1200">
                <a:solidFill>
                  <a:srgbClr val="1F3A5F"/>
                </a:solidFill>
              </a:defRPr>
            </a:pPr>
            <a:r>
              <a:t>  user_clicks.pkl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4754880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3A5F"/>
                </a:solidFill>
              </a:rPr>
              <a:t>Choix de conception 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0" y="5074920"/>
            <a:ext cx="6675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3A5F"/>
                </a:solidFill>
              </a:defRPr>
            </a:pPr>
            <a:r>
              <a:t>  Pas d'API Gateway : appel direct boto3 (plus simple pour un MVP)</a:t>
            </a:r>
          </a:p>
          <a:p>
            <a:pPr>
              <a:defRPr sz="1200">
                <a:solidFill>
                  <a:srgbClr val="1F3A5F"/>
                </a:solidFill>
              </a:defRPr>
            </a:pPr>
            <a:r>
              <a:t>  Lambda mise en cache les artefacts en mémoire (cold start unique)</a:t>
            </a:r>
          </a:p>
          <a:p>
            <a:pPr>
              <a:defRPr sz="1200">
                <a:solidFill>
                  <a:srgbClr val="1F3A5F"/>
                </a:solidFill>
              </a:defRPr>
            </a:pPr>
            <a:r>
              <a:t>  3 modèles sélectionnables dynamiquement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Modèle 1 – ALS (Alternating Least Squares)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DD8E6"/>
                </a:solidFill>
              </a:rPr>
              <a:t>Filtrage collaboratif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97280"/>
            <a:ext cx="73152" cy="54864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Système de recommandation d'articles  |  MVP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0" y="660196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731520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371600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86C1"/>
                </a:solidFill>
              </a:rPr>
              <a:t>Principe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737360"/>
            <a:ext cx="6949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3A5F"/>
                </a:solidFill>
              </a:rPr>
              <a:t>Factorise la matrice utilisateurs × articles en deux matrices de facteurs latents. Les recommandations sont les articles dont les facteurs sont les plus proches de ceux de l'utilisateur.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834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8A5A"/>
                </a:solidFill>
              </a:rPr>
              <a:t>Avantages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20040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3A5F"/>
                </a:solidFill>
              </a:defRPr>
            </a:pPr>
            <a:r>
              <a:t>  Capture les préférences implicites</a:t>
            </a:r>
          </a:p>
          <a:p>
            <a:pPr>
              <a:defRPr sz="1300">
                <a:solidFill>
                  <a:srgbClr val="1F3A5F"/>
                </a:solidFill>
              </a:defRPr>
            </a:pPr>
            <a:r>
              <a:t>  Efficace sur grandes matrices creuses</a:t>
            </a:r>
          </a:p>
          <a:p>
            <a:pPr>
              <a:defRPr sz="1300">
                <a:solidFill>
                  <a:srgbClr val="1F3A5F"/>
                </a:solidFill>
              </a:defRPr>
            </a:pPr>
            <a:r>
              <a:t>  Bien documenté et éprouvé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28346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</a:rPr>
              <a:t>Inconvénients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20040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3A5F"/>
                </a:solidFill>
              </a:defRPr>
            </a:pPr>
            <a:r>
              <a:t>  Cold start : échoue sans historique</a:t>
            </a:r>
          </a:p>
          <a:p>
            <a:pPr>
              <a:defRPr sz="1300">
                <a:solidFill>
                  <a:srgbClr val="1F3A5F"/>
                </a:solidFill>
              </a:defRPr>
            </a:pPr>
            <a:r>
              <a:t>  Nécessite un réentraînement régulier</a:t>
            </a:r>
          </a:p>
          <a:p>
            <a:pPr>
              <a:defRPr sz="1300">
                <a:solidFill>
                  <a:srgbClr val="1F3A5F"/>
                </a:solidFill>
              </a:defRPr>
            </a:pPr>
            <a:r>
              <a:t>  Ne tient pas compte du contenu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280160"/>
            <a:ext cx="3474720" cy="50292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13716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Résultats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011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DD8E6"/>
                </a:solidFill>
              </a:rPr>
              <a:t>Rappel@10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3774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0.11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0175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DD8E6"/>
                </a:solidFill>
              </a:rPr>
              <a:t>Précision@10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383279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0.02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4023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DD8E6"/>
                </a:solidFill>
              </a:rPr>
              <a:t>F1-Score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43891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0.03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Modèle 2 – Embeddings + PCA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DD8E6"/>
                </a:solidFill>
              </a:rPr>
              <a:t>Recommandation basée sur le contenu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97280"/>
            <a:ext cx="73152" cy="54864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Système de recommandation d'articles  |  MVP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0" y="660196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731520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371600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86C1"/>
                </a:solidFill>
              </a:rPr>
              <a:t>Principe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737360"/>
            <a:ext cx="6949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3A5F"/>
                </a:solidFill>
              </a:rPr>
              <a:t>Chaque article est représenté par un vecteur de 250 dimensions. Une PCA réduit ces vecteurs à 64D (97.21% de variance conservée). Le profil utilisateur est la moyenne des vecteurs de ses articles lus. On recommande les articles les plus proches par similarité cosinus.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108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8A5A"/>
                </a:solidFill>
              </a:rPr>
              <a:t>Avantages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47472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3A5F"/>
                </a:solidFill>
              </a:defRPr>
            </a:pPr>
            <a:r>
              <a:t>  Fonctionne pour les nouveaux articles</a:t>
            </a:r>
          </a:p>
          <a:p>
            <a:pPr>
              <a:defRPr sz="1300">
                <a:solidFill>
                  <a:srgbClr val="1F3A5F"/>
                </a:solidFill>
              </a:defRPr>
            </a:pPr>
            <a:r>
              <a:t>  Ne nécessite pas d'historique de clics</a:t>
            </a:r>
          </a:p>
          <a:p>
            <a:pPr>
              <a:defRPr sz="1300">
                <a:solidFill>
                  <a:srgbClr val="1F3A5F"/>
                </a:solidFill>
              </a:defRPr>
            </a:pPr>
            <a:r>
              <a:t>  Capture la sémantique du contenu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1089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</a:rPr>
              <a:t>Inconvénients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47472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3A5F"/>
                </a:solidFill>
              </a:defRPr>
            </a:pPr>
            <a:r>
              <a:t>  Cold start utilisateur toujours présent</a:t>
            </a:r>
          </a:p>
          <a:p>
            <a:pPr>
              <a:defRPr sz="1300">
                <a:solidFill>
                  <a:srgbClr val="1F3A5F"/>
                </a:solidFill>
              </a:defRPr>
            </a:pPr>
            <a:r>
              <a:t>  Qualité dépend des embeddings source</a:t>
            </a:r>
          </a:p>
          <a:p>
            <a:pPr>
              <a:defRPr sz="1300">
                <a:solidFill>
                  <a:srgbClr val="1F3A5F"/>
                </a:solidFill>
              </a:defRPr>
            </a:pPr>
            <a:r>
              <a:t>  Fichier lourd (347Mo → 93Mo après PCA)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280160"/>
            <a:ext cx="3474720" cy="50292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13716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Résultats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011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DD8E6"/>
                </a:solidFill>
              </a:rPr>
              <a:t>Rappel@10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3774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0.21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0175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DD8E6"/>
                </a:solidFill>
              </a:rPr>
              <a:t>Précision@10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383279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0.03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4023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DD8E6"/>
                </a:solidFill>
              </a:rPr>
              <a:t>F1-Score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43891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0.06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51206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DD8E6"/>
                </a:solidFill>
              </a:rPr>
              <a:t>PCA : 250D → 64D
97.21% variance conservée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Modèle 3 – Similarité item-based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DD8E6"/>
                </a:solidFill>
              </a:rPr>
              <a:t>Filtrage collaboratif basé sur les articles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97280"/>
            <a:ext cx="73152" cy="54864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Système de recommandation d'articles  |  MVP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0" y="660196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731520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371600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86C1"/>
                </a:solidFill>
              </a:rPr>
              <a:t>Principe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737360"/>
            <a:ext cx="6949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3A5F"/>
                </a:solidFill>
              </a:rPr>
              <a:t>Calcule la similarité cosinus entre tous les articles à partir des interactions utilisateurs. Pour un utilisateur, on additionne les scores de similarité de ses articles lus et on recommande les articles au score cumulé le plus élevé.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017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8A5A"/>
                </a:solidFill>
              </a:rPr>
              <a:t>Avantages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38328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3A5F"/>
                </a:solidFill>
              </a:defRPr>
            </a:pPr>
            <a:r>
              <a:t>  Meilleurs résultats sur ce dataset</a:t>
            </a:r>
          </a:p>
          <a:p>
            <a:pPr>
              <a:defRPr sz="1300">
                <a:solidFill>
                  <a:srgbClr val="1F3A5F"/>
                </a:solidFill>
              </a:defRPr>
            </a:pPr>
            <a:r>
              <a:t>  Simple à interpréter</a:t>
            </a:r>
          </a:p>
          <a:p>
            <a:pPr>
              <a:defRPr sz="1300">
                <a:solidFill>
                  <a:srgbClr val="1F3A5F"/>
                </a:solidFill>
              </a:defRPr>
            </a:pPr>
            <a:r>
              <a:t>  Pas de réentraînement lourd requis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0175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</a:rPr>
              <a:t>Inconvénients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38328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3A5F"/>
                </a:solidFill>
              </a:defRPr>
            </a:pPr>
            <a:r>
              <a:t>  Cold start utilisateur et article</a:t>
            </a:r>
          </a:p>
          <a:p>
            <a:pPr>
              <a:defRPr sz="1300">
                <a:solidFill>
                  <a:srgbClr val="1F3A5F"/>
                </a:solidFill>
              </a:defRPr>
            </a:pPr>
            <a:r>
              <a:t>  Matrice de similarité à recalculer</a:t>
            </a:r>
          </a:p>
          <a:p>
            <a:pPr>
              <a:defRPr sz="1300">
                <a:solidFill>
                  <a:srgbClr val="1F3A5F"/>
                </a:solidFill>
              </a:defRPr>
            </a:pPr>
            <a:r>
              <a:t>  Limité aux articles déjà vus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280160"/>
            <a:ext cx="3474720" cy="5029200"/>
          </a:xfrm>
          <a:prstGeom prst="rect">
            <a:avLst/>
          </a:prstGeom>
          <a:solidFill>
            <a:srgbClr val="1A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13716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Résultats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011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D5F5E3"/>
                </a:solidFill>
              </a:rPr>
              <a:t>Rappel@10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3774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0.34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0175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D5F5E3"/>
                </a:solidFill>
              </a:rPr>
              <a:t>Précision@10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383279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0.04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4023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D5F5E3"/>
                </a:solidFill>
              </a:rPr>
              <a:t>F1-Score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43891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0.07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51206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MEILLEUR MODÈLE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Comparaison des modèles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73152" cy="54864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Système de recommandation d'articles  |  MVP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0" y="660196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2148840" cy="699516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444752"/>
            <a:ext cx="2057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Modèle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51760" y="1371600"/>
            <a:ext cx="1965960" cy="699516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97479" y="1444752"/>
            <a:ext cx="1874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Type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1371600"/>
            <a:ext cx="1417320" cy="699516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59" y="1444752"/>
            <a:ext cx="13258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Rappel@10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79" y="1371600"/>
            <a:ext cx="1325880" cy="699516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199" y="1444752"/>
            <a:ext cx="12344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F1-Score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79" y="1371600"/>
            <a:ext cx="1691639" cy="699516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43800" y="1444752"/>
            <a:ext cx="1600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Cold start
utilisateur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0" y="1371600"/>
            <a:ext cx="1691639" cy="699516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60" y="1444752"/>
            <a:ext cx="1600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Cold start
article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148840"/>
            <a:ext cx="2148840" cy="6995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286000"/>
            <a:ext cx="2057400" cy="505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3A5F"/>
                </a:solidFill>
              </a:rPr>
              <a:t>ALS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51760" y="2148840"/>
            <a:ext cx="1965960" cy="6995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97479" y="2286000"/>
            <a:ext cx="1874520" cy="505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F3A5F"/>
                </a:solidFill>
              </a:rPr>
              <a:t>Collaborative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63440" y="2148840"/>
            <a:ext cx="1417320" cy="6995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09159" y="2286000"/>
            <a:ext cx="1325880" cy="505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F3A5F"/>
                </a:solidFill>
              </a:rPr>
              <a:t>0.11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79" y="2148840"/>
            <a:ext cx="1325880" cy="6995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72199" y="2286000"/>
            <a:ext cx="1234440" cy="505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F3A5F"/>
                </a:solidFill>
              </a:rPr>
              <a:t>0.03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98079" y="2148840"/>
            <a:ext cx="1691639" cy="6995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43800" y="2286000"/>
            <a:ext cx="1600200" cy="505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0392B"/>
                </a:solidFill>
              </a:rPr>
              <a:t>✗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35440" y="2148840"/>
            <a:ext cx="1691639" cy="6995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81160" y="2286000"/>
            <a:ext cx="1600200" cy="505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0392B"/>
                </a:solidFill>
              </a:rPr>
              <a:t>✗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2926080"/>
            <a:ext cx="2148840" cy="6995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3063240"/>
            <a:ext cx="2057400" cy="505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3A5F"/>
                </a:solidFill>
              </a:rPr>
              <a:t>Embeddings PCA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651760" y="2926080"/>
            <a:ext cx="1965960" cy="6995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697479" y="3063240"/>
            <a:ext cx="1874520" cy="505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F3A5F"/>
                </a:solidFill>
              </a:rPr>
              <a:t>Content-based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63440" y="2926080"/>
            <a:ext cx="1417320" cy="6995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09159" y="3063240"/>
            <a:ext cx="1325880" cy="505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F3A5F"/>
                </a:solidFill>
              </a:rPr>
              <a:t>0.21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26479" y="2926080"/>
            <a:ext cx="1325880" cy="6995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72199" y="3063240"/>
            <a:ext cx="1234440" cy="505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F3A5F"/>
                </a:solidFill>
              </a:rPr>
              <a:t>0.06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98079" y="2926080"/>
            <a:ext cx="1691639" cy="6995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43800" y="3063240"/>
            <a:ext cx="1600200" cy="505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0392B"/>
                </a:solidFill>
              </a:rPr>
              <a:t>✗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235440" y="2926080"/>
            <a:ext cx="1691639" cy="6995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81160" y="3063240"/>
            <a:ext cx="1600200" cy="505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8A5A"/>
                </a:solidFill>
              </a:rPr>
              <a:t>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3703320"/>
            <a:ext cx="2148840" cy="699516"/>
          </a:xfrm>
          <a:prstGeom prst="rect">
            <a:avLst/>
          </a:prstGeom>
          <a:solidFill>
            <a:srgbClr val="1A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3840480"/>
            <a:ext cx="2057400" cy="505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Similarité item-based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651760" y="3703320"/>
            <a:ext cx="1965960" cy="699516"/>
          </a:xfrm>
          <a:prstGeom prst="rect">
            <a:avLst/>
          </a:prstGeom>
          <a:solidFill>
            <a:srgbClr val="1A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697479" y="3840480"/>
            <a:ext cx="1874520" cy="505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Item-based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663440" y="3703320"/>
            <a:ext cx="1417320" cy="699516"/>
          </a:xfrm>
          <a:prstGeom prst="rect">
            <a:avLst/>
          </a:prstGeom>
          <a:solidFill>
            <a:srgbClr val="1A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709159" y="3840480"/>
            <a:ext cx="1325880" cy="505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0.34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26479" y="3703320"/>
            <a:ext cx="1325880" cy="699516"/>
          </a:xfrm>
          <a:prstGeom prst="rect">
            <a:avLst/>
          </a:prstGeom>
          <a:solidFill>
            <a:srgbClr val="1A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72199" y="3840480"/>
            <a:ext cx="1234440" cy="505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0.07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98079" y="3703320"/>
            <a:ext cx="1691639" cy="699516"/>
          </a:xfrm>
          <a:prstGeom prst="rect">
            <a:avLst/>
          </a:prstGeom>
          <a:solidFill>
            <a:srgbClr val="1A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543800" y="3840480"/>
            <a:ext cx="1600200" cy="505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0392B"/>
                </a:solidFill>
              </a:rPr>
              <a:t>✗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235440" y="3703320"/>
            <a:ext cx="1691639" cy="699516"/>
          </a:xfrm>
          <a:prstGeom prst="rect">
            <a:avLst/>
          </a:prstGeom>
          <a:solidFill>
            <a:srgbClr val="1A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281160" y="3840480"/>
            <a:ext cx="1600200" cy="505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0392B"/>
                </a:solidFill>
              </a:rPr>
              <a:t>✗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54864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3A5F"/>
                </a:solidFill>
              </a:rPr>
              <a:t>Le modèle de similarité item-based offre les meilleures performances sur ce dataset. Les 3 modèles sont accessibles dynamiquement depuis l'interface.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Architecture cible – Problématique du cold start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73152" cy="54864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Système de recommandation d'articles  |  MVP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0" y="660196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3A5F"/>
                </a:solidFill>
              </a:rPr>
              <a:t>Le cold start désigne l'incapacité à recommander sans historique.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20240"/>
            <a:ext cx="3749039" cy="5029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993392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Nouvel utilisateur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423160"/>
            <a:ext cx="3749039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56032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3A5F"/>
                </a:solidFill>
              </a:defRPr>
            </a:pPr>
            <a:r>
              <a:t>  Aucun clic enregistré</a:t>
            </a:r>
          </a:p>
          <a:p>
            <a:pPr>
              <a:defRPr sz="1300">
                <a:solidFill>
                  <a:srgbClr val="1F3A5F"/>
                </a:solidFill>
              </a:defRPr>
            </a:pPr>
            <a:r>
              <a:t>  ALS et similarité item-based échouent</a:t>
            </a:r>
          </a:p>
          <a:p>
            <a:pPr>
              <a:defRPr sz="1300">
                <a:solidFill>
                  <a:srgbClr val="1F3A5F"/>
                </a:solidFill>
              </a:defRPr>
            </a:pPr>
            <a:r>
              <a:t>  Solution : popularité globale + onboarding (préférences déclarées)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920240"/>
            <a:ext cx="3749039" cy="502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1993392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Nouvel article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2423160"/>
            <a:ext cx="3749039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256032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3A5F"/>
                </a:solidFill>
              </a:defRPr>
            </a:pPr>
            <a:r>
              <a:t>  Jamais consulté par personne</a:t>
            </a:r>
          </a:p>
          <a:p>
            <a:pPr>
              <a:defRPr sz="1300">
                <a:solidFill>
                  <a:srgbClr val="1F3A5F"/>
                </a:solidFill>
              </a:defRPr>
            </a:pPr>
            <a:r>
              <a:t>  ALS et similarité item-based échouent</a:t>
            </a:r>
          </a:p>
          <a:p>
            <a:pPr>
              <a:defRPr sz="1300">
                <a:solidFill>
                  <a:srgbClr val="1F3A5F"/>
                </a:solidFill>
              </a:defRPr>
            </a:pPr>
            <a:r>
              <a:t>  Solution : embeddings générés depuis le contenu à la publication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920240"/>
            <a:ext cx="3749039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1993392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Utilisateur avec peu d'historique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2423160"/>
            <a:ext cx="3749039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256032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3A5F"/>
                </a:solidFill>
              </a:defRPr>
            </a:pPr>
            <a:r>
              <a:t>  Moins de 3 articles lus</a:t>
            </a:r>
          </a:p>
          <a:p>
            <a:pPr>
              <a:defRPr sz="1300">
                <a:solidFill>
                  <a:srgbClr val="1F3A5F"/>
                </a:solidFill>
              </a:defRPr>
            </a:pPr>
            <a:r>
              <a:t>  Recommandations peu fiables</a:t>
            </a:r>
          </a:p>
          <a:p>
            <a:pPr>
              <a:defRPr sz="1300">
                <a:solidFill>
                  <a:srgbClr val="1F3A5F"/>
                </a:solidFill>
              </a:defRPr>
            </a:pPr>
            <a:r>
              <a:t>  Solution : approche hybride (embeddings + popularité)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Architecture cible – Schéma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73152" cy="54864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Système de recommandation d'articles  |  MVP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0" y="660196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88720"/>
            <a:ext cx="1161288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71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86C1"/>
                </a:solidFill>
              </a:rPr>
              <a:t>Streamlit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28800"/>
            <a:ext cx="2286000" cy="6400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9202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user_id + contexte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13716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F3A5F"/>
                </a:solidFill>
              </a:rPr>
              <a:t>Lambda – Routeur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1828800"/>
            <a:ext cx="2560320" cy="6400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46120" y="19202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Détecte le cas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200400"/>
            <a:ext cx="2286000" cy="457200"/>
          </a:xfrm>
          <a:prstGeom prst="rect">
            <a:avLst/>
          </a:prstGeom>
          <a:solidFill>
            <a:srgbClr val="1A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27355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User connu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657600"/>
            <a:ext cx="22860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730752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3A5F"/>
                </a:solidFill>
              </a:rPr>
              <a:t>ALS /
Similarité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3200400"/>
            <a:ext cx="2286000" cy="4572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63239" y="327355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Peu d'historique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17520" y="3657600"/>
            <a:ext cx="22860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63239" y="3730752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3A5F"/>
                </a:solidFill>
              </a:rPr>
              <a:t>Hybride
Emb. + Pop.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577840" y="3200400"/>
            <a:ext cx="2286000" cy="457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23559" y="327355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Nouvel user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77840" y="3657600"/>
            <a:ext cx="22860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23559" y="3730752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3A5F"/>
                </a:solidFill>
              </a:rPr>
              <a:t>Onboarding
+ Popularité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38160" y="3200400"/>
            <a:ext cx="2286000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83880" y="327355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Nouvel article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38160" y="3657600"/>
            <a:ext cx="22860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83880" y="3730752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3A5F"/>
                </a:solidFill>
              </a:rPr>
              <a:t>Embeddings
contenu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846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3A5F"/>
                </a:solidFill>
              </a:rPr>
              <a:t>EventBridge (24h)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212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3A5F"/>
                </a:solidFill>
              </a:rPr>
              <a:t>→ Réentraînement automatique → Mise à jour S3 → Lambda recharge les artefacts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Réentraînement continu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DD8E6"/>
                </a:solidFill>
              </a:rPr>
              <a:t>Intégrer les nouveaux utilisateurs et articles au fil du temps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97280"/>
            <a:ext cx="73152" cy="54864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Système de recommandation d'articles  |  MVP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0" y="660196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371600"/>
            <a:ext cx="640080" cy="6858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48132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88720" y="1371600"/>
            <a:ext cx="105156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1417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86C1"/>
                </a:solidFill>
              </a:rPr>
              <a:t>1. Nouveau contenu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1463040"/>
            <a:ext cx="7223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3A5F"/>
                </a:solidFill>
              </a:rPr>
              <a:t>Nouvel article publié → génération automatique de son embedding via un modèle NLP léger → ajout dans S3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286000"/>
            <a:ext cx="640080" cy="685800"/>
          </a:xfrm>
          <a:prstGeom prst="rect">
            <a:avLst/>
          </a:prstGeom>
          <a:solidFill>
            <a:srgbClr val="1A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39572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88720" y="2286000"/>
            <a:ext cx="105156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2331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8A5A"/>
                </a:solidFill>
              </a:rPr>
              <a:t>2. Accumulation des clics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2377440"/>
            <a:ext cx="7223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3A5F"/>
                </a:solidFill>
              </a:rPr>
              <a:t>Les nouvelles interactions utilisateurs s'accumulent dans la base de clics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200400"/>
            <a:ext cx="640080" cy="6858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31012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88720" y="3200400"/>
            <a:ext cx="105156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3246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67E22"/>
                </a:solidFill>
              </a:rPr>
              <a:t>3. Déclenchement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3291840"/>
            <a:ext cx="7223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3A5F"/>
                </a:solidFill>
              </a:rPr>
              <a:t>AWS EventBridge déclenche un job de réentraînement toutes les 24h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114800"/>
            <a:ext cx="640080" cy="6858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22452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88720" y="4114800"/>
            <a:ext cx="105156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0" y="4160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3A5F"/>
                </a:solidFill>
              </a:rPr>
              <a:t>4. Réentraînement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4206240"/>
            <a:ext cx="7223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3A5F"/>
                </a:solidFill>
              </a:rPr>
              <a:t>Les 3 modèles sont réentraînés sur les données mises à jour, les nouveaux artefacts sont uploadés sur S3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029200"/>
            <a:ext cx="640080" cy="685800"/>
          </a:xfrm>
          <a:prstGeom prst="rect">
            <a:avLst/>
          </a:prstGeom>
          <a:solidFill>
            <a:srgbClr val="1A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13892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88720" y="5029200"/>
            <a:ext cx="105156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71600" y="5074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8A5A"/>
                </a:solidFill>
              </a:rPr>
              <a:t>5. Mise en production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5120640"/>
            <a:ext cx="7223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3A5F"/>
                </a:solidFill>
              </a:rPr>
              <a:t>La Lambda recharge automatiquement les artefacts au prochain appel (cache invalidé)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Limites du MVP et perspectives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73152" cy="54864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Système de recommandation d'articles  |  MVP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0" y="660196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280160"/>
            <a:ext cx="3474720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0" y="1280160"/>
            <a:ext cx="3931920" cy="457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412480" y="1280160"/>
            <a:ext cx="3383280" cy="457200"/>
          </a:xfrm>
          <a:prstGeom prst="rect">
            <a:avLst/>
          </a:prstGeom>
          <a:solidFill>
            <a:srgbClr val="1A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35331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Limite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135331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9" y="135331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Solution cible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920240"/>
            <a:ext cx="3474720" cy="9144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79" y="2057400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3A5F"/>
                </a:solidFill>
              </a:rPr>
              <a:t>Dataset anonymisé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0" y="1920240"/>
            <a:ext cx="3931920" cy="9144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51960" y="2057400"/>
            <a:ext cx="3703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3A5F"/>
                </a:solidFill>
              </a:rPr>
              <a:t>Pas de titres d'articles → affichage peu parlant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80" y="1920240"/>
            <a:ext cx="3383280" cy="9144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49640" y="2057400"/>
            <a:ext cx="3154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3A5F"/>
                </a:solidFill>
              </a:rPr>
              <a:t>Remplacer par des données propriétaires avec titres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971800"/>
            <a:ext cx="347472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79" y="3108960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3A5F"/>
                </a:solidFill>
              </a:rPr>
              <a:t>Cold start non géré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0" y="2971800"/>
            <a:ext cx="393192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51960" y="3108960"/>
            <a:ext cx="3703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3A5F"/>
                </a:solidFill>
              </a:rPr>
              <a:t>Nouveaux users/articles sans recommandation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12480" y="2971800"/>
            <a:ext cx="338328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49640" y="3108960"/>
            <a:ext cx="3154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3A5F"/>
                </a:solidFill>
              </a:rPr>
              <a:t>Implémenter les stratégies de l'architecture cible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023360"/>
            <a:ext cx="3474720" cy="9144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79" y="4160520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3A5F"/>
                </a:solidFill>
              </a:rPr>
              <a:t>Pas de réentraînement auto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0" y="4023360"/>
            <a:ext cx="3931920" cy="9144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51960" y="4160520"/>
            <a:ext cx="3703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3A5F"/>
                </a:solidFill>
              </a:rPr>
              <a:t>Modèle statique après déploiement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12480" y="4023360"/>
            <a:ext cx="3383280" cy="9144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49640" y="4160520"/>
            <a:ext cx="3154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3A5F"/>
                </a:solidFill>
              </a:rPr>
              <a:t>EventBridge + Lambda de réentraînement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5074920"/>
            <a:ext cx="347472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79" y="5212080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3A5F"/>
                </a:solidFill>
              </a:rPr>
              <a:t>Streamlit non persistant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0" y="5074920"/>
            <a:ext cx="393192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51960" y="5212080"/>
            <a:ext cx="3703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3A5F"/>
                </a:solidFill>
              </a:rPr>
              <a:t>Redémarrage EC2 = perte du service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412480" y="5074920"/>
            <a:ext cx="338328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49640" y="5212080"/>
            <a:ext cx="3154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3A5F"/>
                </a:solidFill>
              </a:rPr>
              <a:t>Configurer systemd ou supervisor pour relance auto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73152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554480"/>
            <a:ext cx="457200" cy="6400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600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86C1"/>
                </a:solidFill>
              </a:rPr>
              <a:t>MVP fonctionnel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645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EAF8"/>
                </a:solidFill>
              </a:rPr>
              <a:t>Application Streamlit déployée sur EC2, 3 modèles accessibles, Lambda opérationnelle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468880"/>
            <a:ext cx="457200" cy="6400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14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86C1"/>
                </a:solidFill>
              </a:rPr>
              <a:t>Architecture serverless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560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EAF8"/>
                </a:solidFill>
              </a:rPr>
              <a:t>AWS Lambda + S3 : scalable, économique, sans serveur à maintenir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383280"/>
            <a:ext cx="457200" cy="6400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474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429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86C1"/>
                </a:solidFill>
              </a:rPr>
              <a:t>Meilleur modèle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4747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EAF8"/>
                </a:solidFill>
              </a:rPr>
              <a:t>Similarité item-based : Rappel@10 = 0.34, meilleure performance sur ce dataset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4297680"/>
            <a:ext cx="457200" cy="6400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389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3434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86C1"/>
                </a:solidFill>
              </a:rPr>
              <a:t>Industrialisable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43891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EAF8"/>
                </a:solidFill>
              </a:rPr>
              <a:t>Scripts versionnés sur GitHub, déploiement reproductible bout-en-bout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5212080"/>
            <a:ext cx="457200" cy="6400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03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5257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86C1"/>
                </a:solidFill>
              </a:rPr>
              <a:t>Architecture cible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53035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EAF8"/>
                </a:solidFill>
              </a:rPr>
              <a:t>Cold start géré par routage intelligent selon le contexte utilisateur/article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